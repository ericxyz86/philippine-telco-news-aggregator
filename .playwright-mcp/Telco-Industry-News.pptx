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vertexaisearch.cloud.google.com/grounding-api-redirect/AUZIYQFCmL6NKlxYxED_4D0FhJVA89UyWNVEpxfIffv9Qo-9rliVHjwYnriGibjXFqJ_4cDW-nfoQqSQAc5HE0qFsKieXOWdOTA0jkpvFmRwdc-VzZb6_B36Nwsjzs2u_d-ZEA=="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vertexaisearch.cloud.google.com/grounding-api-redirect/AUZIYQEPOXCnM7mX6WwcD08ythojQ8Eg20YoCbKtz3WP9vs1Ul7gg7CjzsEBINOIlDgAwScNQUhjI-41CHgw5x1ODdm3-O772G4SPBPpprAnfmrA35unSFc_ApHz0wId4Cb0jfP8KO-wuChRhUb8C2X5uOGIWpux5vv76ooA7J7foj18O2U9O28kwWcWcNxPU7FX3unVMG-kNciDh5YnwOdkJ-GGOdTtIRIkbILMxwg=="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vertexaisearch.cloud.google.com/grounding-api-redirect/AUZIYQFHwb11eC3sUeBxMcj4oO1uPVBzk92gMVDAHzL_wYTuhFWEcS2jRHpgX96bTOW-dvCTQ_0OTKzAnnBN7_bvoM17gWZNpoybITIgjt3MvReejzM7zl__mMfIjXSn-_eObtn15WZa-Lpmj_owqWW5scXMt5TZ4XelLTsDT-3PB7A5HNTfFlpeKnpFFysO-p_IStEwM7wAbgmX5r4g3LloQf_eSAL5SS1DaqFlrGSSDtzbBniFhUnHK9X0WmyYInF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bytes.ph/2025/10/26/pldt-enterprise-intros-new-authentication-system-to-replace-otps-in-digital-transaction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vertexaisearch.cloud.google.com/grounding-api-redirect/AUZIYQGppVmTl55SgcMU3LMaKGsvNRY8uBYhzn4XRpeqBJv_rAJN5H68TnMTmvxytKZOo65PJlAacHxOcly8H4Ns8t1v4kwGFXZLW9QiTF4uz8lZV4hu43EHCB7cBt7AnS2oMGKLzuzk7oyJrFA4C6AgcyOUZMOiJMjNzmpebugQgmDOFK_9ACEjkH-kxBjKSID8PgxUijn9bwqk3DV--34YDv96_Q=="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vertexaisearch.cloud.google.com/grounding-api-redirect/AUZIYQHYAZY7yj9MwIDJ0qBgLoJ1oz83zdZjEqwRN671fec8HjJ9BEgBfy9psrlK2eip4lHss2IFM273K34TFlHFarfPRvYelnUqnMz3oRFhiCsvsdF9RztXXcbVbxyNpeCGwNGkJ0c5JWbjDp3G6LtzkHalMgGx6iQh8sFZkCKLtcbctZ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vertexaisearch.cloud.google.com/grounding-api-redirect/AUZIYQEatzbisy7QdO1_bfB3doqRpKBIJeu7QMdcUp9W5GFZhM6h9LnzccqYiWJgUZYXLwhJ2WR_zN4QLsgYcfKhFPeb4t-NLG5HKCLOYS4L5_2_-HTwfgma20luH5CqRLqSQqUTXg=="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vertexaisearch.cloud.google.com/grounding-api-redirect/AUZIYQEKnBxPU3_ARGQFpRc_TCNFpr_s8UFLwBNMXYY1qdwTBOvLC2Lsw2SaeEn80ONtGUPMcFoNUoUivHe7NFyJBV_336GGP-8oz69pkrU6iaAIuJHxQVgJ8K9Nyn-WEjytZeXTj3MEfCk8vkpj9A8E3pYhut3Qoz1rjGlAKQjwSEHZ7wsxAgdkniUDZltNtdhVfNFdNXYFEuh4C"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vertexaisearch.cloud.google.com/grounding-api-redirect/AUZIYQE-RzHrFGUyLxaamVfpDyg8Vyi3Ca0kLsNdXEYtc3DmXZabFpoNJ963lBvT8UkerwiuuRmlNxb74e-WMErrTb7w2JtSdvpBpaQBPTTE7tohN-l7_DCQBadWsktnEICl9vgrDmCM2gQIJejSy2cdTjYgIWFo52wy0IuQmUfTC3OViGxNu3K8ydrFMzi-ACF8T7cPMnWqT8nqtQR5j42w20wY3RbV3hkTHSklfRKi"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vertexaisearch.cloud.google.com/grounding-api-redirect/AUZIYQGBveoR-Mlvl6OsQAEXneBgtAl0IHa4vE01Z_m8NQtDJ1Iinqhu64DDDoMpfEYXn7hUx7fWBFx12iCWSYgSU2gnLY5TSXrC0QceC-BwYXx6nazosyuEZAPBUGwWYNWD6_lf7KlACJeeSN2nQVxjCiTjz_N7ashexhgTmd0BqFsLoWeE-HXTVSHYrA2N3vcyAHbLlOClY2TA-Q-i2xqHu9rxtnRPe6CL2F9QuA5J7VjjBGgO9Her_3ZSiZAZb0fdKUGO"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manilatimes.net/2025/10/27/news/npc-probes-reports-gcash-data-sold-on-dark-web-globe-denies-compromise/2208762"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sunstar.com.ph/cebu/dict-telecoms-fight-fake-news-after-quake"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gmanetwork.com/news/topstories/nation/964526/ntc-orders-regional-offices-to-assist-public-during-undas-2025/story/"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vertexaisearch.cloud.google.com/grounding-api-redirect/AUZIYQE2gvaU7Nd28dU2ByO7Lfv-yLNJ-05vboKXFdm4WWxxy0FDJMe3dwqAMa-iyoRmSqrjT4f_U7Sxl22lXEFC1sZFo0lLuP4a2iYrbnpbZ31dmwMI0u5_KEXV5FJ4fRFzoPoDiR-ffHAJcPBViip3j91nn7ozLbU7PB8eYebjvAxAPy_PKDN3rbI1BlBAMA=="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vertexaisearch.cloud.google.com/grounding-api-redirect/AUZIYQFd1VQcp3ZBuWUcWDagBiItLKZYOPN1tcKFBjqHZUuQkfjestX-zJFitW4S57B9JMcWp9UTtoC8UPld3UB6i0X3qZ3M4pGm0keDcs2ccfpsYRfpeuDDdYy5wHwAfvsz9FZDW7FW2sqE7ZUTONg6WycObACxXt8j9Z4Hn7aaujFu_T_uhC3e_DxntNgptdeTXODokpNoSK100bxIATUlt8NSgdZ3MzbIjYttV-fXvgrnc0S8v7ob"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vertexaisearch.cloud.google.com/grounding-api-redirect/AUZIYQF0sbuttYYP9ccZ_6Z7GqxKCyXenOFN-zjtEg5cvolZtTujfjOo9HWQl9AJnyVGMJu2Tn8Nue-zY9_1uhkJUagxL3XW3BxM9VO_HyJeGe0IsOSoWlIvOIMf1TegpoeQ26PzkPZT5GEZW3CA68Wvuse2pFDo5QzEemnsfTYesA0gvUhnQDVmyZyHEO9nzEPV-OSdcZ_2Q4InaCIExJNRAME="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manilatimes.net/2025/10/27/news/globe-powers-up-lucena-a-city-on-the-rise/2208735"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vertexaisearch.cloud.google.com/grounding-api-redirect/AUZIYQG_O8D6Luvit3F81D_obaIo7gSJoTlJyk7X_SUix_u0zDx7WVK2Qs2jRcj7cxV_Qng9ETPEWuO70LQFq3hWIxZ3D48fMeN6INAU_KqfSL_uu3Dax0qZ-yHe_gesyofHbOMa-swGq0W6p9OMznHpT1AgngTf-Fs1gCMDVkI2FWnHDP53sizcGZaB5rN3Aj8AHnfTDh9Qd17JD96Vvnjh3UaJoXHZhWiqjsQZl2bRk7S9JvXAOiG6jEB46GIea0oKhr9eXXD-K2KOrH-dv-h4NiHy5khfSEwrqR_i5RXtXkRvcGKowswbSJU0uLHhh18bs7efXOK2ZEh2_bHkZZ8-yMRNFa9YzbKdet_uNdot0TIk7HOlvjnuxoIIwcxR2u5J"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vertexaisearch.cloud.google.com/grounding-api-redirect/AUZIYQFL8AE7Z0y4izoCcDlr69sTjUdAXHXlRz4-3G9Zu5kjc3AgBobZKBQ1b65TfDalzTlxCa6JmRuMje-nqcj3DHVtFPxSMnY-6WJY6yltBuBkM0R9Axh5PLFMG0aEZjIb5cr-3dKEcjuvSFari7oLfkFHSlUNClXQdDB5hdjo7IHhHc8f0l3ZnO508KY2K9hc9h03sdgKfrr9sGgmjHOAFMJmEB2uHt7muvdDIfMVk3D53V9wAx4fvdq0z12cYw=="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4400" b="1" dirty="0">
                <a:solidFill>
                  <a:srgbClr val="FFFFFF"/>
                </a:solidFill>
                <a:latin typeface="Roboto" pitchFamily="34" charset="0"/>
                <a:ea typeface="Roboto" pitchFamily="34" charset="-122"/>
                <a:cs typeface="Roboto" pitchFamily="34" charset="-120"/>
              </a:rPr>
              <a:t>Top Industry News</a:t>
            </a:r>
            <a:endParaRPr lang="en-US" sz="4400" dirty="0"/>
          </a:p>
        </p:txBody>
      </p:sp>
      <p:sp>
        <p:nvSpPr>
          <p:cNvPr id="3" name="Text 1"/>
          <p:cNvSpPr/>
          <p:nvPr/>
        </p:nvSpPr>
        <p:spPr>
          <a:xfrm>
            <a:off x="457200" y="3657600"/>
            <a:ext cx="8229600" cy="457200"/>
          </a:xfrm>
          <a:prstGeom prst="rect">
            <a:avLst/>
          </a:prstGeom>
          <a:noFill/>
          <a:ln/>
        </p:spPr>
        <p:txBody>
          <a:bodyPr wrap="square" rtlCol="0" anchor="ctr"/>
          <a:lstStyle/>
          <a:p>
            <a:pPr algn="ctr" indent="0" marL="0">
              <a:buNone/>
            </a:pPr>
            <a:r>
              <a:rPr lang="en-US" sz="2000" dirty="0">
                <a:solidFill>
                  <a:srgbClr val="D1D5DB"/>
                </a:solidFill>
                <a:latin typeface="Roboto" pitchFamily="34" charset="0"/>
                <a:ea typeface="Roboto" pitchFamily="34" charset="-122"/>
                <a:cs typeface="Roboto" pitchFamily="34" charset="-120"/>
              </a:rPr>
              <a:t>2025-10-26 to 2025-11-02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PLDT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PLDT Boosts Digital Infrastructure with Ciena Optical Tech for Asia Direct Cable</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PLDT is deploying Ciena's advanced optical technology (6500 platform with WaveLogic 5 Extreme) to enhance the Philippines' digital infrastructure. This upgrade improves data transmission from the Asia Direct Cable (ADC) system to local users, efficiently backhauling traffic from global cloud providers and strengthening connectivity for PLDT's AI-ready VITRO Santa Rosa data center.</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ICC Information</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PLDT (Smart)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Smart Partners with Lynk Global for Satellite-to-Phone Connectivity</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Smart Communications, PLDT's wireless arm, has partnered with LEO satellite operator Lynk Global to provide 'direct to device' (D2D) mobile communications in areas lacking traditional cell signals. This initiative will initially offer text and mobile app communication, with future plans for full data and voice, aiming to improve connectivity during disasters and in remote locations.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Smart Communications Inc.</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PLDT Enterprise</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PLDT Enterprise Expands Cloud &amp; Cybersecurity Offerings with New Partnerships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PLDT Enterprise is enhancing its digital security and cloud services through strategic partnerships, including cloud migration for Daiichi Properties to ePLDT VITRO Cloud and collaboration with Newbuy Group for secure, real-time messaging solutions across Asia-Pacific SMEs. These efforts aim to meet the growing demand for secure and scalable digital solutions for Philippine businesses.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TechSabado.com</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PLDT Enterprise</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PLDT Enterprise Launches New Authentication System, Phasing Out OTPs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PLDT Enterprise has introduced a new authentication system designed to replace traditional One-Time Passwords (OTPs) in digital transactions. This move aims to enhance security and streamline the user experience for businesses and their customers, reflecting a push towards more robust and modern authentication methods.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newsbytes.ph</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Global Industry</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China's Strategic Leverage in SCS Subsea Networks Poses Regional Challenge</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An ASPI analyst highlighted China's increasing strategic influence in the South China Sea (SCS) subsea cable network, citing alleged delays in repair permits. This impacts digital infrastructure and regional tensions. The Philippines, via Globe Telecom's participation in the AUG East submarine cable system (expected 2029), is enhancing its digital security and international connectivity.</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Global News</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DICT Extends Tower License Validity to 15 Years, Accelerating Rollout</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The DICT has extended shared telecommunications tower license validity from five to 15 years (Department Circular No. 6, series of 2025). This regulatory reform aims to reduce red tape, accelerate tower deployment, cut costs, and expand nationwide coverage, aligning the Philippines with global standards and reinforcing the Common Tower Policy.</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Panay News</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ARTA Calls for Stronger Public-Private Collaboration to Accelerate Network Rollout</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ARTA Secretary Ernesto Perez emphasized the critical need for stronger policy enforcement and closer government-private sector collaboration to accelerate nationwide network infrastructure rollout. This call supports Executive Order No. 32, which streamlines permitting processes for telecommunications infrastructure, with PLDT and Smart actively engaging government agencies.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Philippine News Agency</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I Squared Capital Eyes Philippine Data Center Market Amidst Data Reforms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American private equity firm I Squared Capital, with over $50 billion in assets, is interested in investing in the Philippines' data center industry, contingent on government data reforms. The firm highlights data localization/sovereignty policies as crucial for attracting significant investments, as much of the country's data is currently stored abroad.</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Manila Bulletin</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APAC Telcos Shift Focus to Profitability and Efficiency, Including Philippines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A report indicates APAC telecommunications operators, including those in the Philippines, are shifting from aggressive network expansion to prioritizing profitability and efficiency. This involves reduced capital spending, increased AI/automation adoption, and diversification into cloud services and enterprise ICT, with Globe and PLDT noted for cutting CapEx and achieving positive free cash flow.</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TM Forum Inform</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Philippines Emerges as Digital-First Outsourcing Hub Driven by Infrastructure Revolution</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The Philippines has rapidly transformed into a digital-first outsourcing hub due to significant private sector investments in fiber, data centers, and cellular networks, supported by government efforts. Starlink's high-speed satellite internet has further solidified this position by extending connectivity to remote areas, enabling businesses to operate confidently nationwide.</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PITON-Global</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NPC Investigates Alleged GCash Data Breach; Globe Denies Compromise</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The National Privacy Commission (NPC) is investigating reports of GCash user data being sold on the dark web. While Globe Telecom, GCash's parent company, has denied any compromise of its systems, the incident highlights ongoing cybersecurity concerns for digital financial services in the Philippines.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manilatimes.net</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DICT and Telcos Combat Fake News Post-Cebu Quake</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Following a Magnitude 6.9 earthquake in Cebu, the DICT and telecommunications companies are actively working to counter the spread of fake news. This collaborative effort underscores the critical role of telcos in providing reliable information and maintaining public trust during natural disasters and emergencies.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sunstar.com.ph</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Philippines Market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NTC Directs Regional Offices to Assist Public During Undas 2025</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The National Telecommunications Commission (NTC) has issued an order for its regional offices to provide assistance to the public during the Undas 2025 observance. This directive likely involves ensuring stable network connectivity and addressing any telecommunications-related concerns during the holiday period.</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gmanetwork.com</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4400" b="1" dirty="0">
                <a:solidFill>
                  <a:srgbClr val="FFFFFF"/>
                </a:solidFill>
                <a:latin typeface="Roboto" pitchFamily="34" charset="0"/>
                <a:ea typeface="Roboto" pitchFamily="34" charset="-122"/>
                <a:cs typeface="Roboto" pitchFamily="34" charset="-120"/>
              </a:rPr>
              <a:t>Top Competitor News</a:t>
            </a:r>
            <a:endParaRPr lang="en-US" sz="4400" dirty="0"/>
          </a:p>
        </p:txBody>
      </p:sp>
      <p:sp>
        <p:nvSpPr>
          <p:cNvPr id="3" name="Text 1"/>
          <p:cNvSpPr/>
          <p:nvPr/>
        </p:nvSpPr>
        <p:spPr>
          <a:xfrm>
            <a:off x="457200" y="3657600"/>
            <a:ext cx="8229600" cy="457200"/>
          </a:xfrm>
          <a:prstGeom prst="rect">
            <a:avLst/>
          </a:prstGeom>
          <a:noFill/>
          <a:ln/>
        </p:spPr>
        <p:txBody>
          <a:bodyPr wrap="square" rtlCol="0" anchor="ctr"/>
          <a:lstStyle/>
          <a:p>
            <a:pPr algn="ctr" indent="0" marL="0">
              <a:buNone/>
            </a:pPr>
            <a:r>
              <a:rPr lang="en-US" sz="2000" dirty="0">
                <a:solidFill>
                  <a:srgbClr val="D1D5DB"/>
                </a:solidFill>
                <a:latin typeface="Roboto" pitchFamily="34" charset="0"/>
                <a:ea typeface="Roboto" pitchFamily="34" charset="-122"/>
                <a:cs typeface="Roboto" pitchFamily="34" charset="-120"/>
              </a:rPr>
              <a:t>2025-10-26 to 2025-11-02</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Globe Telecom</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Globe Joins STT GDC Philippines as Key Connectivity Partner for Digital Readiness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ST Telemedia Global Data Centres (STT GDC) Philippines announced Globe Telecom, Radius Telecoms, and Source Telecoms as connectivity partners for its STT Fairview 1 data center. This partnership is vital for the Philippines' AI-powered growth and digital transformation, providing a carrier-neutral ecosystem with diverse, high-bandwidth routes.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Digital Reg | Since 2004 | Tech Review</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Globe Telecom</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Globe Business Partners with Call Center Studio for AI-Powered CX Solutions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Globe Business has partnered with Call Center Studio (CCS) to introduce next-generation, AI-powered cloud contact center solutions to the Philippine market, particularly for the BPO sector. This collaboration aims to empower enterprises with scalable, secure, and cost-efficient customer experience technologies, strengthening Globe's enterprise portfolio.</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MegaBites</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Globe Telecom</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Globe Business &amp; Cyble Launch AI-Powered Cybersecurity Platform for Enterprises</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Globe Business has teamed up with global cybersecurity firm Cyble to launch an AI-powered threat intelligence platform in the Philippines. This partnership addresses the rising complexity of cyberattacks, helping enterprises proactively detect and prevent data breaches, phishing, and other threats using Cyble's Agentic AI and BlazeAI engine.</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Back End News</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Globe Telecom</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Globe Strengthens Network in Lucena City</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Globe Telecom is enhancing its network infrastructure in Lucena City, signaling a strategic focus on improving connectivity and service quality in key urban centers. This initiative supports the city's growth and ensures robust telecommunications services for its residents and businesses.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manilatimes.net</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Converge ICT</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Converge ICT Champions Digital Sovereignty for Philippine Data Security</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Converge ICT CEO Dennis Anthony Uy advocated for sovereign cloud technologies to ensure national control over data storage and access. Converge is collaborating with global tech giants like Google, Amazon Web Services, Naver, Foxconn, and Tencent to develop secure, in-country cloud solutions, safeguarding Philippine digital interests.</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Converge ICT Solutions Inc.</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754880" y="914400"/>
            <a:ext cx="3931920" cy="365760"/>
          </a:xfrm>
          <a:prstGeom prst="rect">
            <a:avLst/>
          </a:prstGeom>
          <a:noFill/>
          <a:ln/>
        </p:spPr>
        <p:txBody>
          <a:bodyPr wrap="square" rtlCol="0" anchor="ctr"/>
          <a:lstStyle/>
          <a:p>
            <a:pPr indent="0" marL="0">
              <a:buNone/>
            </a:pPr>
            <a:r>
              <a:rPr lang="en-US" sz="1600" b="1" dirty="0">
                <a:solidFill>
                  <a:srgbClr val="DC2626"/>
                </a:solidFill>
                <a:latin typeface="Roboto" pitchFamily="34" charset="0"/>
                <a:ea typeface="Roboto" pitchFamily="34" charset="-122"/>
                <a:cs typeface="Roboto" pitchFamily="34" charset="-120"/>
              </a:rPr>
              <a:t>DITO Telecommunity</a:t>
            </a:r>
            <a:endParaRPr lang="en-US" sz="1600" dirty="0"/>
          </a:p>
        </p:txBody>
      </p:sp>
      <p:sp>
        <p:nvSpPr>
          <p:cNvPr id="3" name="Text 1"/>
          <p:cNvSpPr/>
          <p:nvPr/>
        </p:nvSpPr>
        <p:spPr>
          <a:xfrm>
            <a:off x="4754880" y="1371600"/>
            <a:ext cx="3931920" cy="1097280"/>
          </a:xfrm>
          <a:prstGeom prst="rect">
            <a:avLst/>
          </a:prstGeom>
          <a:noFill/>
          <a:ln/>
        </p:spPr>
        <p:txBody>
          <a:bodyPr wrap="square" rtlCol="0" anchor="ctr"/>
          <a:lstStyle/>
          <a:p>
            <a:pPr indent="0" marL="0">
              <a:buNone/>
            </a:pPr>
            <a:r>
              <a:rPr lang="en-US" sz="2000" b="1" dirty="0">
                <a:solidFill>
                  <a:srgbClr val="1E293B"/>
                </a:solidFill>
                <a:latin typeface="Roboto" pitchFamily="34" charset="0"/>
                <a:ea typeface="Roboto" pitchFamily="34" charset="-122"/>
                <a:cs typeface="Roboto" pitchFamily="34" charset="-120"/>
              </a:rPr>
              <a:t>DITO Named 'Best Mobile Network' as Smart Gains in 5G Performance</a:t>
            </a:r>
            <a:endParaRPr lang="en-US" sz="2000" dirty="0"/>
          </a:p>
        </p:txBody>
      </p:sp>
      <p:sp>
        <p:nvSpPr>
          <p:cNvPr id="4" name="Text 2"/>
          <p:cNvSpPr/>
          <p:nvPr/>
        </p:nvSpPr>
        <p:spPr>
          <a:xfrm>
            <a:off x="4754880" y="2560320"/>
            <a:ext cx="3931920" cy="1371600"/>
          </a:xfrm>
          <a:prstGeom prst="rect">
            <a:avLst/>
          </a:prstGeom>
          <a:noFill/>
          <a:ln/>
        </p:spPr>
        <p:txBody>
          <a:bodyPr wrap="square" rtlCol="0" anchor="ctr"/>
          <a:lstStyle/>
          <a:p>
            <a:pPr indent="0" marL="0">
              <a:buNone/>
            </a:pPr>
            <a:r>
              <a:rPr lang="en-US" sz="1400" dirty="0">
                <a:solidFill>
                  <a:srgbClr val="475569"/>
                </a:solidFill>
                <a:latin typeface="Roboto" pitchFamily="34" charset="0"/>
                <a:ea typeface="Roboto" pitchFamily="34" charset="-122"/>
                <a:cs typeface="Roboto" pitchFamily="34" charset="-120"/>
              </a:rPr>
              <a:t>DITO Telecommunity was recognized as the 'Best Mobile Network' in the Philippines for October 2025 by Opensignal, leading in overall experience, consistent quality, and reliability. The report also noted Smart Communications' significant progress in 5G performance, while Globe Telecom maintained 5G availability leadership but with less pronounced speed gains, indicating a dynamic competitive landscape.</a:t>
            </a:r>
            <a:endParaRPr lang="en-US" sz="1400" dirty="0"/>
          </a:p>
        </p:txBody>
      </p:sp>
      <p:sp>
        <p:nvSpPr>
          <p:cNvPr id="5" name="Text 3">
            <a:hlinkClick r:id="rId1" tooltip=""/>
          </p:cNvPr>
          <p:cNvSpPr/>
          <p:nvPr/>
        </p:nvSpPr>
        <p:spPr>
          <a:xfrm>
            <a:off x="4754880" y="4023360"/>
            <a:ext cx="3931920" cy="274320"/>
          </a:xfrm>
          <a:prstGeom prst="rect">
            <a:avLst/>
          </a:prstGeom>
          <a:noFill/>
          <a:ln/>
        </p:spPr>
        <p:txBody>
          <a:bodyPr wrap="square" rtlCol="0" anchor="ctr"/>
          <a:lstStyle/>
          <a:p>
            <a:pPr indent="0" marL="0">
              <a:buNone/>
            </a:pPr>
            <a:r>
              <a:rPr lang="en-US" sz="1000" u="sng" dirty="0">
                <a:solidFill>
                  <a:srgbClr val="2563EB"/>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The Manila Times</a:t>
            </a:r>
            <a:endParaRPr lang="en-US" sz="1000" dirty="0"/>
          </a:p>
        </p:txBody>
      </p:sp>
      <p:sp>
        <p:nvSpPr>
          <p:cNvPr id="6" name="Text 4"/>
          <p:cNvSpPr/>
          <p:nvPr/>
        </p:nvSpPr>
        <p:spPr>
          <a:xfrm>
            <a:off x="7772400" y="4572000"/>
            <a:ext cx="914400" cy="274320"/>
          </a:xfrm>
          <a:prstGeom prst="rect">
            <a:avLst/>
          </a:prstGeom>
          <a:noFill/>
          <a:ln/>
        </p:spPr>
        <p:txBody>
          <a:bodyPr wrap="square" rtlCol="0" anchor="ctr"/>
          <a:lstStyle/>
          <a:p>
            <a:pPr indent="0" marL="0">
              <a:buNone/>
            </a:pPr>
            <a:r>
              <a:rPr lang="en-US" sz="1400" b="1" dirty="0">
                <a:solidFill>
                  <a:srgbClr val="DC2626"/>
                </a:solidFill>
                <a:latin typeface="Roboto" pitchFamily="34" charset="0"/>
                <a:ea typeface="Roboto" pitchFamily="34" charset="-122"/>
                <a:cs typeface="Roboto" pitchFamily="34" charset="-120"/>
              </a:rPr>
              <a:t>PLDT Home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1E293B"/>
                </a:solidFill>
                <a:latin typeface="Roboto" pitchFamily="34" charset="0"/>
                <a:ea typeface="Roboto" pitchFamily="34" charset="-122"/>
                <a:cs typeface="Roboto" pitchFamily="34" charset="-120"/>
              </a:rPr>
              <a:t>Significance to Our Business</a:t>
            </a:r>
            <a:endParaRPr lang="en-US" sz="3200" dirty="0"/>
          </a:p>
        </p:txBody>
      </p:sp>
      <p:sp>
        <p:nvSpPr>
          <p:cNvPr id="3" name="Text 1"/>
          <p:cNvSpPr/>
          <p:nvPr/>
        </p:nvSpPr>
        <p:spPr>
          <a:xfrm>
            <a:off x="914400" y="1371600"/>
            <a:ext cx="7315200" cy="548640"/>
          </a:xfrm>
          <a:prstGeom prst="rect">
            <a:avLst/>
          </a:prstGeom>
          <a:noFill/>
          <a:ln/>
        </p:spPr>
        <p:txBody>
          <a:bodyPr wrap="square" rtlCol="0" anchor="ctr"/>
          <a:lstStyle/>
          <a:p>
            <a:pPr marL="342900" indent="-342900">
              <a:buSzPct val="100000"/>
              <a:buChar char="•"/>
            </a:pPr>
            <a:r>
              <a:rPr lang="en-US" sz="1600" dirty="0">
                <a:solidFill>
                  <a:srgbClr val="475569"/>
                </a:solidFill>
                <a:latin typeface="Roboto" pitchFamily="34" charset="0"/>
                <a:ea typeface="Roboto" pitchFamily="34" charset="-122"/>
                <a:cs typeface="Roboto" pitchFamily="34" charset="-120"/>
              </a:rPr>
              <a:t>• **Intensified Competition &amp; Market Dynamics:** DITO's 'Best Mobile Network' recognition and Smart's 5G gains highlight a highly competitive market, pressuring all players to continuously innovate and improve network quality and user experience.</a:t>
            </a:r>
            <a:endParaRPr lang="en-US" sz="1600" dirty="0"/>
          </a:p>
        </p:txBody>
      </p:sp>
      <p:sp>
        <p:nvSpPr>
          <p:cNvPr id="4" name="Text 2"/>
          <p:cNvSpPr/>
          <p:nvPr/>
        </p:nvSpPr>
        <p:spPr>
          <a:xfrm>
            <a:off x="914400" y="2011680"/>
            <a:ext cx="7315200" cy="548640"/>
          </a:xfrm>
          <a:prstGeom prst="rect">
            <a:avLst/>
          </a:prstGeom>
          <a:noFill/>
          <a:ln/>
        </p:spPr>
        <p:txBody>
          <a:bodyPr wrap="square" rtlCol="0" anchor="ctr"/>
          <a:lstStyle/>
          <a:p>
            <a:pPr marL="342900" indent="-342900">
              <a:buSzPct val="100000"/>
              <a:buChar char="•"/>
            </a:pPr>
            <a:r>
              <a:rPr lang="en-US" sz="1600" dirty="0">
                <a:solidFill>
                  <a:srgbClr val="475569"/>
                </a:solidFill>
                <a:latin typeface="Roboto" pitchFamily="34" charset="0"/>
                <a:ea typeface="Roboto" pitchFamily="34" charset="-122"/>
                <a:cs typeface="Roboto" pitchFamily="34" charset="-120"/>
              </a:rPr>
              <a:t>• **Strategic Shift Towards Profitability &amp; Efficiency:** The broader APAC trend of telcos prioritizing profitability over aggressive CapEx, coupled with regulatory support like extended tower license validity, creates opportunities for optimized operations and cost reduction, but also demands strategic investment in high-ROI areas.</a:t>
            </a:r>
            <a:endParaRPr lang="en-US" sz="1600" dirty="0"/>
          </a:p>
        </p:txBody>
      </p:sp>
      <p:sp>
        <p:nvSpPr>
          <p:cNvPr id="5" name="Text 3"/>
          <p:cNvSpPr/>
          <p:nvPr/>
        </p:nvSpPr>
        <p:spPr>
          <a:xfrm>
            <a:off x="914400" y="2651760"/>
            <a:ext cx="7315200" cy="548640"/>
          </a:xfrm>
          <a:prstGeom prst="rect">
            <a:avLst/>
          </a:prstGeom>
          <a:noFill/>
          <a:ln/>
        </p:spPr>
        <p:txBody>
          <a:bodyPr wrap="square" rtlCol="0" anchor="ctr"/>
          <a:lstStyle/>
          <a:p>
            <a:pPr marL="342900" indent="-342900">
              <a:buSzPct val="100000"/>
              <a:buChar char="•"/>
            </a:pPr>
            <a:r>
              <a:rPr lang="en-US" sz="1600" dirty="0">
                <a:solidFill>
                  <a:srgbClr val="475569"/>
                </a:solidFill>
                <a:latin typeface="Roboto" pitchFamily="34" charset="0"/>
                <a:ea typeface="Roboto" pitchFamily="34" charset="-122"/>
                <a:cs typeface="Roboto" pitchFamily="34" charset="-120"/>
              </a:rPr>
              <a:t>• **Growing Importance of Digital Infrastructure &amp; Data Sovereignty:** Significant foreign investment interest in data centers (I Squared Capital) and local advocacy for digital sovereignty (Converge ICT) underscore the critical need for robust, secure, and locally controlled digital infrastructure, including subsea cables, for national security and economic growth.</a:t>
            </a:r>
            <a:endParaRPr lang="en-US" sz="1600" dirty="0"/>
          </a:p>
        </p:txBody>
      </p:sp>
      <p:sp>
        <p:nvSpPr>
          <p:cNvPr id="6" name="Text 4"/>
          <p:cNvSpPr/>
          <p:nvPr/>
        </p:nvSpPr>
        <p:spPr>
          <a:xfrm>
            <a:off x="914400" y="3291840"/>
            <a:ext cx="7315200" cy="548640"/>
          </a:xfrm>
          <a:prstGeom prst="rect">
            <a:avLst/>
          </a:prstGeom>
          <a:noFill/>
          <a:ln/>
        </p:spPr>
        <p:txBody>
          <a:bodyPr wrap="square" rtlCol="0" anchor="ctr"/>
          <a:lstStyle/>
          <a:p>
            <a:pPr marL="342900" indent="-342900">
              <a:buSzPct val="100000"/>
              <a:buChar char="•"/>
            </a:pPr>
            <a:r>
              <a:rPr lang="en-US" sz="1600" dirty="0">
                <a:solidFill>
                  <a:srgbClr val="475569"/>
                </a:solidFill>
                <a:latin typeface="Roboto" pitchFamily="34" charset="0"/>
                <a:ea typeface="Roboto" pitchFamily="34" charset="-122"/>
                <a:cs typeface="Roboto" pitchFamily="34" charset="-120"/>
              </a:rPr>
              <a:t>• **Expansion into Enterprise &amp; Emerging Technologies:** PLDT and Globe are actively diversifying into enterprise solutions, cloud services, AI-powered cybersecurity, and advanced contact center technologies, signaling a move beyond traditional connectivity to capture new revenue streams and support digital transformation across industries.</a:t>
            </a:r>
            <a:endParaRPr lang="en-US" sz="1600" dirty="0"/>
          </a:p>
        </p:txBody>
      </p:sp>
      <p:sp>
        <p:nvSpPr>
          <p:cNvPr id="7" name="Text 5"/>
          <p:cNvSpPr/>
          <p:nvPr/>
        </p:nvSpPr>
        <p:spPr>
          <a:xfrm>
            <a:off x="914400" y="3931920"/>
            <a:ext cx="7315200" cy="548640"/>
          </a:xfrm>
          <a:prstGeom prst="rect">
            <a:avLst/>
          </a:prstGeom>
          <a:noFill/>
          <a:ln/>
        </p:spPr>
        <p:txBody>
          <a:bodyPr wrap="square" rtlCol="0" anchor="ctr"/>
          <a:lstStyle/>
          <a:p>
            <a:pPr marL="342900" indent="-342900">
              <a:buSzPct val="100000"/>
              <a:buChar char="•"/>
            </a:pPr>
            <a:r>
              <a:rPr lang="en-US" sz="1600" dirty="0">
                <a:solidFill>
                  <a:srgbClr val="475569"/>
                </a:solidFill>
                <a:latin typeface="Roboto" pitchFamily="34" charset="0"/>
                <a:ea typeface="Roboto" pitchFamily="34" charset="-122"/>
                <a:cs typeface="Roboto" pitchFamily="34" charset="-120"/>
              </a:rPr>
              <a:t>• **Enhanced Connectivity for Underserved Areas &amp; Disaster Preparedness:** Partnerships leveraging LEO satellite technology (Smart/Lynk Global) and government initiatives to streamline infrastructure rollout (DICT, ARTA) are crucial for bridging the digital divide, improving emergency communications, and strengthening the Philippines' position as a resilient digital hub.</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0"/>
            <a:ext cx="8229600" cy="914400"/>
          </a:xfrm>
          <a:prstGeom prst="rect">
            <a:avLst/>
          </a:prstGeom>
          <a:noFill/>
          <a:ln/>
        </p:spPr>
        <p:txBody>
          <a:bodyPr wrap="square" rtlCol="0" anchor="ctr"/>
          <a:lstStyle/>
          <a:p>
            <a:pPr algn="ctr" indent="0" marL="0">
              <a:buNone/>
            </a:pPr>
            <a:r>
              <a:rPr lang="en-US" sz="4000" b="1" dirty="0">
                <a:solidFill>
                  <a:srgbClr val="DC2626"/>
                </a:solidFill>
                <a:latin typeface="Roboto" pitchFamily="34" charset="0"/>
                <a:ea typeface="Roboto" pitchFamily="34" charset="-122"/>
                <a:cs typeface="Roboto" pitchFamily="34" charset="-120"/>
              </a:rPr>
              <a:t>End of Report</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PLDT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Industry News</dc:title>
  <dc:subject>PptxGenJS Presentation</dc:subject>
  <dc:creator>PLDT Home</dc:creator>
  <cp:lastModifiedBy>PLDT Home</cp:lastModifiedBy>
  <cp:revision>1</cp:revision>
  <dcterms:created xsi:type="dcterms:W3CDTF">2025-11-02T15:44:50Z</dcterms:created>
  <dcterms:modified xsi:type="dcterms:W3CDTF">2025-11-02T15:44:50Z</dcterms:modified>
</cp:coreProperties>
</file>